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Balance</c:v>
                </c:pt>
              </c:strCache>
            </c:strRef>
          </c:tx>
          <c:spPr>
            <a:solidFill>
              <a:srgbClr val="1E3A5F"/>
            </a:solidFill>
            <a:effectLst/>
          </c:spPr>
          <c:cat>
            <c:strRef>
              <c:f>Sheet1!$A$2:$A$14</c:f>
              <c:strCache>
                <c:ptCount val="13"/>
                <c:pt idx="0">
                  <c:v>30</c:v>
                </c:pt>
                <c:pt idx="1">
                  <c:v>35</c:v>
                </c:pt>
                <c:pt idx="2">
                  <c:v>40</c:v>
                </c:pt>
                <c:pt idx="3">
                  <c:v>45</c:v>
                </c:pt>
                <c:pt idx="4">
                  <c:v>50</c:v>
                </c:pt>
                <c:pt idx="5">
                  <c:v>55</c:v>
                </c:pt>
                <c:pt idx="6">
                  <c:v>60</c:v>
                </c:pt>
                <c:pt idx="7">
                  <c:v>65</c:v>
                </c:pt>
                <c:pt idx="8">
                  <c:v>70</c:v>
                </c:pt>
                <c:pt idx="9">
                  <c:v>75</c:v>
                </c:pt>
                <c:pt idx="10">
                  <c:v>80</c:v>
                </c:pt>
                <c:pt idx="11">
                  <c:v>85</c:v>
                </c:pt>
                <c:pt idx="12">
                  <c:v>90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0.2</c:v>
                </c:pt>
                <c:pt idx="1">
                  <c:v>0.57999999999999996</c:v>
                </c:pt>
                <c:pt idx="2">
                  <c:v>1.1299999999999999</c:v>
                </c:pt>
                <c:pt idx="3">
                  <c:v>1.85</c:v>
                </c:pt>
                <c:pt idx="4">
                  <c:v>2.72</c:v>
                </c:pt>
                <c:pt idx="5">
                  <c:v>3.85</c:v>
                </c:pt>
                <c:pt idx="6">
                  <c:v>5.41</c:v>
                </c:pt>
                <c:pt idx="7">
                  <c:v>4.95</c:v>
                </c:pt>
                <c:pt idx="8">
                  <c:v>4.4400000000000004</c:v>
                </c:pt>
                <c:pt idx="9">
                  <c:v>3.73</c:v>
                </c:pt>
                <c:pt idx="10">
                  <c:v>2.8</c:v>
                </c:pt>
                <c:pt idx="11">
                  <c:v>1.58</c:v>
                </c:pt>
                <c:pt idx="1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B8-D34A-B37B-D92DB3B64A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F7F5F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7F5F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5F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4E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05D-7E49-80CE-8CD4A36798E9}"/>
              </c:ext>
            </c:extLst>
          </c:dPt>
          <c:dPt>
            <c:idx val="1"/>
            <c:bubble3D val="0"/>
            <c:spPr>
              <a:solidFill>
                <a:srgbClr val="4F7B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05D-7E49-80CE-8CD4A36798E9}"/>
              </c:ext>
            </c:extLst>
          </c:dPt>
          <c:dPt>
            <c:idx val="2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05D-7E49-80CE-8CD4A36798E9}"/>
              </c:ext>
            </c:extLst>
          </c:dPt>
          <c:dPt>
            <c:idx val="3"/>
            <c:bubble3D val="0"/>
            <c:spPr>
              <a:solidFill>
                <a:srgbClr val="6CC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05D-7E49-80CE-8CD4A36798E9}"/>
              </c:ext>
            </c:extLst>
          </c:dPt>
          <c:dPt>
            <c:idx val="4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05D-7E49-80CE-8CD4A36798E9}"/>
              </c:ext>
            </c:extLst>
          </c:dPt>
          <c:dPt>
            <c:idx val="5"/>
            <c:bubble3D val="0"/>
            <c:spPr>
              <a:solidFill>
                <a:srgbClr val="C9A2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05D-7E49-80CE-8CD4A36798E9}"/>
              </c:ext>
            </c:extLst>
          </c:dPt>
          <c:dPt>
            <c:idx val="6"/>
            <c:bubble3D val="0"/>
            <c:spPr>
              <a:solidFill>
                <a:srgbClr val="E3C7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05D-7E49-80CE-8CD4A36798E9}"/>
              </c:ext>
            </c:extLst>
          </c:dPt>
          <c:cat>
            <c:strRef>
              <c:f>Sheet1!$A$2:$A$8</c:f>
              <c:strCache>
                <c:ptCount val="7"/>
                <c:pt idx="0">
                  <c:v>IWDA</c:v>
                </c:pt>
                <c:pt idx="1">
                  <c:v>EIMI</c:v>
                </c:pt>
                <c:pt idx="2">
                  <c:v>AGGU</c:v>
                </c:pt>
                <c:pt idx="3">
                  <c:v>KFMTFI</c:v>
                </c:pt>
                <c:pt idx="4">
                  <c:v>Kept</c:v>
                </c:pt>
                <c:pt idx="5">
                  <c:v>REET</c:v>
                </c:pt>
                <c:pt idx="6">
                  <c:v>IGLN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32</c:v>
                </c:pt>
                <c:pt idx="1">
                  <c:v>8</c:v>
                </c:pt>
                <c:pt idx="2">
                  <c:v>28</c:v>
                </c:pt>
                <c:pt idx="3">
                  <c:v>10</c:v>
                </c:pt>
                <c:pt idx="4">
                  <c:v>5</c:v>
                </c:pt>
                <c:pt idx="5">
                  <c:v>10</c:v>
                </c:pt>
                <c:pt idx="6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F05D-7E49-80CE-8CD4A36798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5F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1975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96643026 INVESTMENT PLANNING  ·  GROUP WORKSHOP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Retiring Well Abroad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A9B4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฿5,000 a month becomes ฿30,000 a month, from 60 to 90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82296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Tithipan Thepsuthin  ·  Chuthathip Termchaikul  ·  Techin Lohapongpan  ·  Napaul Intharasing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2245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Sakdipat Krishanachinda  ·  September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Thirty years of saving must fund thirty years of spending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25880" y="1691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today  ·  expat, Thailand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242816" y="14630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16636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0" y="1463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035040" y="16916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horizon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212848"/>
            <a:ext cx="4005072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4590288" y="2212848"/>
            <a:ext cx="4005072" cy="914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548640" y="2377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ACCUMULATION  ·  360 MONTHS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23774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DECUMULATION  ·  360 MONTHS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788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฿200,000 now  +  ฿5,000 a month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฿2.0M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in over 30 years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788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฿30,000 a month, every month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30175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฿10.8M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466344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out, age 60 to 90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must turn ฿2.0M of savings into ฿10.8M of income.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Two-phase TVM: accumulation builds the pot; decumulation drains it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ACCUMULATION PHASE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= ฿200,000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PMT = ฿5,000/month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360 months (30 years)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for FV₂₆₀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FV₆₀ = ฿5,413,120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709160" y="1234440"/>
            <a:ext cx="0" cy="320040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4983480" y="1234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DECUMULATION PHASE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83480" y="15087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PMT = ฿30,000/month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360 months (30 years)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 = 0 (fully depleted at 90)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for PV₆₀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83480" y="2697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PV₆₀ = ฿5,407,039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8046720" cy="685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548640" y="33375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Constraint: FV₆₀ = PV₆₀  →  what monthly rate i makes this hold?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480060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Withdrawals at start of month (annuity due)  ·  Monthly compounding  ·  Solved by Excel Goal Seek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5.46% a year is the break-even: ฿5.41M built by 60 lasts exactly to 90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5.46%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annual return (EAR)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487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0.4440% per month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86200" y="1234440"/>
            <a:ext cx="0" cy="137160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4069080" y="123444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FV₆₀ = ฿5,413,120
</a:t>
            </a: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PV₆₀ = ฿5,407,039
</a:t>
            </a: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 ≈ PV  →  Goal Seek converged</a:t>
            </a:r>
            <a:endParaRPr lang="en-US" sz="13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365760" y="2697480"/>
          <a:ext cx="841248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4023360" y="2514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฿5.41M at 60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482803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฿  ·  no inflation, taxes or fees  ·  portfolio fully depleted at age 90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0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8A97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 100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54864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Level 4 — High Risk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7673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band 30–36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score of 35 gives Tom full access to high-growth assets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749040" y="1554480"/>
            <a:ext cx="850392" cy="548640"/>
          </a:xfrm>
          <a:prstGeom prst="rect">
            <a:avLst/>
          </a:prstGeom>
          <a:solidFill>
            <a:srgbClr val="ADB5BD"/>
          </a:solidFill>
          <a:ln w="12700">
            <a:solidFill>
              <a:srgbClr val="ADB5BD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3749040" y="1554480"/>
            <a:ext cx="850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26864" y="1554480"/>
            <a:ext cx="649224" cy="548640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4626864" y="1554480"/>
            <a:ext cx="64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15–21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303520" y="1554480"/>
            <a:ext cx="822960" cy="54864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5303520" y="15544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22–29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153912" y="1554480"/>
            <a:ext cx="713232" cy="548640"/>
          </a:xfrm>
          <a:prstGeom prst="rect">
            <a:avLst/>
          </a:prstGeom>
          <a:solidFill>
            <a:srgbClr val="B4443A"/>
          </a:solidFill>
          <a:ln w="12700">
            <a:solidFill>
              <a:srgbClr val="B4443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6153912" y="1554480"/>
            <a:ext cx="713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30–36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894576" y="1554480"/>
            <a:ext cx="365760" cy="54864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6894576" y="15544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≥37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46520" y="1417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4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is here →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49040" y="2423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30-year horizon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49040" y="2697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recover from drawdowns and compounding to work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49040" y="3081528"/>
            <a:ext cx="484632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/>
          <p:nvPr/>
        </p:nvSpPr>
        <p:spPr>
          <a:xfrm>
            <a:off x="3749040" y="3200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฿5k/month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749040" y="3474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Dollar-cost averaging reduces sequence-of-return risk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749040" y="3858768"/>
            <a:ext cx="484632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8" name="Text 26"/>
          <p:cNvSpPr/>
          <p:nvPr/>
        </p:nvSpPr>
        <p:spPr>
          <a:xfrm>
            <a:off x="3749040" y="3977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5.46% EAR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749040" y="4251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is above deposit and short-bond rates — growth assets required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3-basket technique translates risk tolerance into a target allocation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02336" cy="5943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950976" y="1417320"/>
            <a:ext cx="2253082" cy="5943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950976" y="1417320"/>
            <a:ext cx="225308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28%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4058" y="1417320"/>
            <a:ext cx="5391302" cy="594360"/>
          </a:xfrm>
          <a:prstGeom prst="rect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3204058" y="1417320"/>
            <a:ext cx="539130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1261872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25908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548640" y="2377440"/>
            <a:ext cx="259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 5%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2724912"/>
            <a:ext cx="259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safety &amp; liquidity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035808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Krungsri Kept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76600" y="2286000"/>
            <a:ext cx="2590800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3276600" y="2377440"/>
            <a:ext cx="259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Medium  28%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76600" y="2724912"/>
            <a:ext cx="259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&amp; stability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76600" y="3035808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AGGU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04560" y="2286000"/>
            <a:ext cx="2590800" cy="0"/>
          </a:xfrm>
          <a:prstGeom prst="line">
            <a:avLst/>
          </a:prstGeom>
          <a:noFill/>
          <a:ln w="25400">
            <a:solidFill>
              <a:srgbClr val="1E4E8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6004560" y="2377440"/>
            <a:ext cx="259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 67%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04560" y="2724912"/>
            <a:ext cx="259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growth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04560" y="3035808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IWDA · EIMI · REET · IGLN · KFMTFI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asset classes  ·  max 2 holdings per class  ·  Level 4 High Risk permits full high-growth allocation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holdings across four asset classes — each playing a distinct role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51560"/>
          <a:ext cx="39319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1280160" y="2606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280160" y="3063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invested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0" y="1271016"/>
            <a:ext cx="137160" cy="137160"/>
          </a:xfrm>
          <a:prstGeom prst="rect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5"/>
          <p:cNvSpPr/>
          <p:nvPr/>
        </p:nvSpPr>
        <p:spPr>
          <a:xfrm>
            <a:off x="4773168" y="114300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IWDA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40680" y="1143000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0" y="114300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market equities — core growth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0" y="1572768"/>
            <a:ext cx="416052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9"/>
          <p:cNvSpPr/>
          <p:nvPr/>
        </p:nvSpPr>
        <p:spPr>
          <a:xfrm>
            <a:off x="4572000" y="1737360"/>
            <a:ext cx="137160" cy="137160"/>
          </a:xfrm>
          <a:prstGeom prst="rect">
            <a:avLst/>
          </a:prstGeom>
          <a:solidFill>
            <a:srgbClr val="4F7BB8"/>
          </a:solidFill>
          <a:ln w="12700">
            <a:solidFill>
              <a:srgbClr val="4F7BB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0"/>
          <p:cNvSpPr/>
          <p:nvPr/>
        </p:nvSpPr>
        <p:spPr>
          <a:xfrm>
            <a:off x="4773168" y="1609344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EIMI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40680" y="1609344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943600" y="160934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market equities — diversification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0" y="2039112"/>
            <a:ext cx="416052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Shape 14"/>
          <p:cNvSpPr/>
          <p:nvPr/>
        </p:nvSpPr>
        <p:spPr>
          <a:xfrm>
            <a:off x="4572000" y="2203704"/>
            <a:ext cx="137160" cy="1371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Text 15"/>
          <p:cNvSpPr/>
          <p:nvPr/>
        </p:nvSpPr>
        <p:spPr>
          <a:xfrm>
            <a:off x="4773168" y="2075688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AGGU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40680" y="2075688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943600" y="207568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IG bonds — drawdown buffer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0" y="2505456"/>
            <a:ext cx="416052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Shape 19"/>
          <p:cNvSpPr/>
          <p:nvPr/>
        </p:nvSpPr>
        <p:spPr>
          <a:xfrm>
            <a:off x="4572000" y="2670048"/>
            <a:ext cx="137160" cy="137160"/>
          </a:xfrm>
          <a:prstGeom prst="rect">
            <a:avLst/>
          </a:prstGeom>
          <a:solidFill>
            <a:srgbClr val="6CC3B8"/>
          </a:solidFill>
          <a:ln w="12700">
            <a:solidFill>
              <a:srgbClr val="6CC3B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3" name="Text 20"/>
          <p:cNvSpPr/>
          <p:nvPr/>
        </p:nvSpPr>
        <p:spPr>
          <a:xfrm>
            <a:off x="4773168" y="2542032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KFMTFI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40680" y="2542032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943600" y="254203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bonds — THB anchor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72000" y="2971800"/>
            <a:ext cx="416052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7" name="Shape 24"/>
          <p:cNvSpPr/>
          <p:nvPr/>
        </p:nvSpPr>
        <p:spPr>
          <a:xfrm>
            <a:off x="4572000" y="3136392"/>
            <a:ext cx="137160" cy="1371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8" name="Text 25"/>
          <p:cNvSpPr/>
          <p:nvPr/>
        </p:nvSpPr>
        <p:spPr>
          <a:xfrm>
            <a:off x="4773168" y="3008376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440680" y="3008376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943600" y="300837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savings — liquidity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572000" y="3438144"/>
            <a:ext cx="416052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2" name="Shape 29"/>
          <p:cNvSpPr/>
          <p:nvPr/>
        </p:nvSpPr>
        <p:spPr>
          <a:xfrm>
            <a:off x="4572000" y="3602736"/>
            <a:ext cx="137160" cy="1371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3" name="Text 30"/>
          <p:cNvSpPr/>
          <p:nvPr/>
        </p:nvSpPr>
        <p:spPr>
          <a:xfrm>
            <a:off x="4773168" y="347472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REET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440680" y="3474720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943600" y="347472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REITs — inflation hedge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572000" y="3904488"/>
            <a:ext cx="416052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7" name="Shape 34"/>
          <p:cNvSpPr/>
          <p:nvPr/>
        </p:nvSpPr>
        <p:spPr>
          <a:xfrm>
            <a:off x="4572000" y="4069080"/>
            <a:ext cx="137160" cy="137160"/>
          </a:xfrm>
          <a:prstGeom prst="rect">
            <a:avLst/>
          </a:prstGeom>
          <a:solidFill>
            <a:srgbClr val="E3C766"/>
          </a:solidFill>
          <a:ln w="12700">
            <a:solidFill>
              <a:srgbClr val="E3C76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8" name="Text 35"/>
          <p:cNvSpPr/>
          <p:nvPr/>
        </p:nvSpPr>
        <p:spPr>
          <a:xfrm>
            <a:off x="4773168" y="3941064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IGLN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5440680" y="3941064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5943600" y="394106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gold — crisis hedge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Weighted return of 6.06% clears the 5.46% hurdle with a 0.60 pp buffer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6.06%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portfolio return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0" y="1188720"/>
            <a:ext cx="0" cy="118872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4389120" y="11887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5.46%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38912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return (i*)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80960" y="1188720"/>
            <a:ext cx="960120" cy="1188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7680960" y="1188720"/>
            <a:ext cx="960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+0.60 pp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64261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920240" y="264261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0" y="264261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663440" y="264261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 Return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943600" y="264261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8640" y="2953512"/>
            <a:ext cx="667512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548640" y="29900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29900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IWDA 32% + EIMI 8%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0" y="299008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299008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~9.5%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0" y="299008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3.80 pp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300984"/>
            <a:ext cx="667512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3" name="Text 21"/>
          <p:cNvSpPr/>
          <p:nvPr/>
        </p:nvSpPr>
        <p:spPr>
          <a:xfrm>
            <a:off x="548640" y="33375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Income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20240" y="33375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AGGU 28% + KFMTFI 10%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0" y="333756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33375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~3.5%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33375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1.33 pp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648456"/>
            <a:ext cx="667512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Text 27"/>
          <p:cNvSpPr/>
          <p:nvPr/>
        </p:nvSpPr>
        <p:spPr>
          <a:xfrm>
            <a:off x="548640" y="36850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920240" y="368503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REET 10% + IGLN 7%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0" y="368503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63440" y="36850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~5.0%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43600" y="368503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 pp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3995928"/>
            <a:ext cx="667512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5" name="Text 33"/>
          <p:cNvSpPr/>
          <p:nvPr/>
        </p:nvSpPr>
        <p:spPr>
          <a:xfrm>
            <a:off x="548640" y="403250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920240" y="403250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Krungsri Kept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14800" y="403250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63440" y="403250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43600" y="403250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 pp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4343400"/>
            <a:ext cx="667512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1" name="Text 39"/>
          <p:cNvSpPr/>
          <p:nvPr/>
        </p:nvSpPr>
        <p:spPr>
          <a:xfrm>
            <a:off x="548640" y="437997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920240" y="437997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holdings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114800" y="437997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663440" y="437997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943600" y="437997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6.06%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Developed markets carry the return; emerging markets stay an 8% satellite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dirty="0">
                <a:solidFill>
                  <a:srgbClr val="1E4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32%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IWDA  ·  MSCI World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rgbClr val="4F7B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EIMI  ·  MSCI 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1920240"/>
            <a:ext cx="603504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2377440" y="3063240"/>
            <a:ext cx="603504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7406640" y="1792224"/>
            <a:ext cx="502920" cy="256032"/>
          </a:xfrm>
          <a:prstGeom prst="rect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7982712" y="1783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10–11%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2935224"/>
            <a:ext cx="1005840" cy="256032"/>
          </a:xfrm>
          <a:prstGeom prst="rect">
            <a:avLst/>
          </a:prstGeom>
          <a:solidFill>
            <a:srgbClr val="4F7BB8"/>
          </a:solidFill>
          <a:ln w="12700">
            <a:solidFill>
              <a:srgbClr val="4F7BB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4434840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F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0" y="32461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4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straddles target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123383" y="1463040"/>
            <a:ext cx="0" cy="2194560"/>
          </a:xfrm>
          <a:prstGeom prst="line">
            <a:avLst/>
          </a:prstGeom>
          <a:noFill/>
          <a:ln w="12700">
            <a:solidFill>
              <a:srgbClr val="B4443A"/>
            </a:solidFill>
            <a:prstDash val="dash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4803343" y="12344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4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5.46% required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77440" y="3749040"/>
            <a:ext cx="603504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2240280" y="37947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377440" y="3721608"/>
            <a:ext cx="0" cy="45720"/>
          </a:xfrm>
          <a:prstGeom prst="line">
            <a:avLst/>
          </a:prstGeom>
          <a:noFill/>
          <a:ln w="63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4251960" y="37947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89120" y="3721608"/>
            <a:ext cx="0" cy="45720"/>
          </a:xfrm>
          <a:prstGeom prst="line">
            <a:avLst/>
          </a:prstGeom>
          <a:noFill/>
          <a:ln w="63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6263640" y="37947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0" y="3721608"/>
            <a:ext cx="0" cy="45720"/>
          </a:xfrm>
          <a:prstGeom prst="line">
            <a:avLst/>
          </a:prstGeom>
          <a:noFill/>
          <a:ln w="63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Text 22"/>
          <p:cNvSpPr/>
          <p:nvPr/>
        </p:nvSpPr>
        <p:spPr>
          <a:xfrm>
            <a:off x="8275320" y="37947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412480" y="3721608"/>
            <a:ext cx="0" cy="45720"/>
          </a:xfrm>
          <a:prstGeom prst="line">
            <a:avLst/>
          </a:prstGeom>
          <a:noFill/>
          <a:ln w="63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7772400" y="3749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10-yr annualised return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IWDA: ~1,500 stocks, 23 developed markets, TER 0.20%, P/E ~18–19×. The core growth engine over 30 years.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EIMI: China ~25%, India ~20%, higher volatility — diversification satellite, kept at 8%.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8006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iShares factsheets IWDA IE00B4L5Y983, EIMI IE00BKM4GZ66  · 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38% in bonds provides income and cushions equity drawdowns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1671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iShares Global Aggregate Bond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(USD-hedged, investment-grade)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27889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~4.2–4.5%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31089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years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4290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34290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USD-hedged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37490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ballast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34640" y="1188720"/>
            <a:ext cx="0" cy="338328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3108960" y="1188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dirty="0">
                <a:solidFill>
                  <a:srgbClr val="6CC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3108960" y="1874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KFMTFI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108960" y="21671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Krungsri Monthly Fixed Income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(Thai short-term bonds, THB)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108960" y="27889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31920" y="27889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~2.5–3.0%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08960" y="31089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1920" y="31089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08960" y="34290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31920" y="34290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Baht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108960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931920" y="37490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THB anchor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0" y="1188720"/>
            <a:ext cx="0" cy="338328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8" name="Text 26"/>
          <p:cNvSpPr/>
          <p:nvPr/>
        </p:nvSpPr>
        <p:spPr>
          <a:xfrm>
            <a:off x="5943600" y="1188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RATES RISE 1%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0" y="14630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dirty="0">
                <a:solidFill>
                  <a:srgbClr val="B44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−7%</a:t>
            </a:r>
            <a:endParaRPr lang="en-US" sz="4400" dirty="0"/>
          </a:p>
        </p:txBody>
      </p:sp>
      <p:sp>
        <p:nvSpPr>
          <p:cNvPr id="30" name="Text 28"/>
          <p:cNvSpPr/>
          <p:nvPr/>
        </p:nvSpPr>
        <p:spPr>
          <a:xfrm>
            <a:off x="5943600" y="21762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AGGU price drop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(7-year duration)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0" y="2743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KFMTFI: short duration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impact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0" y="3291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rates raise future reinvestment income — the price drop is temporary for a buy-and-hold investor.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 provides liquidity; gold and REITs hedge against inflation over 30 years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606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63040" y="12618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Krungsri Kept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savings  ·  Thai Baht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12140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45920" y="212140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~1.5% p.a.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551176"/>
            <a:ext cx="260604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548640" y="262432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0" y="262432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054096"/>
            <a:ext cx="260604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548640" y="312724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45920" y="312724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557016"/>
            <a:ext cx="260604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548640" y="363016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45920" y="363016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buffer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46120" y="1188720"/>
            <a:ext cx="260604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3246120" y="126187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160520" y="12618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246120" y="1737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iShares Global REITs  ·  NYSE-listed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46120" y="212140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43400" y="212140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3.5–4.5%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2551176"/>
            <a:ext cx="260604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3246120" y="262432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10-yr return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43400" y="262432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~5–7%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46120" y="3054096"/>
            <a:ext cx="260604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Text 27"/>
          <p:cNvSpPr/>
          <p:nvPr/>
        </p:nvSpPr>
        <p:spPr>
          <a:xfrm>
            <a:off x="3246120" y="312724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343400" y="312724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pass-through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46120" y="3557016"/>
            <a:ext cx="260604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/>
          <p:nvPr/>
        </p:nvSpPr>
        <p:spPr>
          <a:xfrm>
            <a:off x="3246120" y="363016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43400" y="363016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hedge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43600" y="1188720"/>
            <a:ext cx="2606040" cy="0"/>
          </a:xfrm>
          <a:prstGeom prst="line">
            <a:avLst/>
          </a:prstGeom>
          <a:noFill/>
          <a:ln w="25400">
            <a:solidFill>
              <a:srgbClr val="E3C76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5" name="Text 33"/>
          <p:cNvSpPr/>
          <p:nvPr/>
        </p:nvSpPr>
        <p:spPr>
          <a:xfrm>
            <a:off x="5943600" y="126187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rgbClr val="E3C7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7%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6858000" y="12618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IGLN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943600" y="1737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iShares Physical Gold  ·  LSE-listed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43600" y="212140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10-yr return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040880" y="212140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~8–9%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43600" y="2551176"/>
            <a:ext cx="260604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1" name="Text 39"/>
          <p:cNvSpPr/>
          <p:nvPr/>
        </p:nvSpPr>
        <p:spPr>
          <a:xfrm>
            <a:off x="5943600" y="262432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040880" y="262432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0.1–0.2 to equities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943600" y="3054096"/>
            <a:ext cx="260604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4" name="Text 42"/>
          <p:cNvSpPr/>
          <p:nvPr/>
        </p:nvSpPr>
        <p:spPr>
          <a:xfrm>
            <a:off x="5943600" y="312724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040880" y="312724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vault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943600" y="3557016"/>
            <a:ext cx="260604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7" name="Text 45"/>
          <p:cNvSpPr/>
          <p:nvPr/>
        </p:nvSpPr>
        <p:spPr>
          <a:xfrm>
            <a:off x="5943600" y="363016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040880" y="363016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hedge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Mitigation: every major risk in the plan has a named buffer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40280" y="1280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46320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804672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548640" y="159105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drawdown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40280" y="15910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4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30–40% crash on 40% equity sleeve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46320" y="159105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30-yr horizon absorbs; DCA buys the dip; AGGU + IGLN buffer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029968"/>
            <a:ext cx="804672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548640" y="2066544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Interest-rate rise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40280" y="20665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4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AGGU ≈ −7% per +1% rate increase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0" y="206654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KFMTFI short duration offsets; hold to maturity recovers value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505456"/>
            <a:ext cx="804672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548640" y="2542032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(USD/THB)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40280" y="25420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4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~85% of assets in foreign currency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0" y="254203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THB anchor (KFMTFI + Kept); long horizon averages FX cycles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2980944"/>
            <a:ext cx="804672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Shape 18"/>
          <p:cNvSpPr/>
          <p:nvPr/>
        </p:nvSpPr>
        <p:spPr>
          <a:xfrm>
            <a:off x="548640" y="2999232"/>
            <a:ext cx="8046720" cy="438912"/>
          </a:xfrm>
          <a:prstGeom prst="rect">
            <a:avLst/>
          </a:prstGeom>
          <a:solidFill>
            <a:srgbClr val="C9A227">
              <a:alpha val="1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/>
          <p:nvPr/>
        </p:nvSpPr>
        <p:spPr>
          <a:xfrm>
            <a:off x="548640" y="301752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40280" y="30175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4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Erodes ฿30,000/month over 30 years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0" y="3017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REET passes rent increases; IGLN preserves real value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456432"/>
            <a:ext cx="804672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/>
          <p:nvPr/>
        </p:nvSpPr>
        <p:spPr>
          <a:xfrm>
            <a:off x="548640" y="349300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40280" y="349300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4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sell in market stress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46320" y="34930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ETFs on NYSE/LSE, high daily volume, no lock-up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931920"/>
            <a:ext cx="8046720" cy="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Text 27"/>
          <p:cNvSpPr/>
          <p:nvPr/>
        </p:nvSpPr>
        <p:spPr>
          <a:xfrm>
            <a:off x="548640" y="396849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Broker/custody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240280" y="396849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4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insolvency risk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46320" y="39684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SIPC cover up to US$500k via IBKR; assets held separately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Brokers or Saxo Bank (UCITS ETFs)  ·  KAsset app for KFMTFI  ·  SIPC via US-regulated broker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plan works: growth covers the need, diversification covers the risk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931920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return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5.46% EAR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800600" y="1280160"/>
            <a:ext cx="3931920" cy="0"/>
          </a:xfrm>
          <a:prstGeom prst="line">
            <a:avLst/>
          </a:prstGeom>
          <a:noFill/>
          <a:ln w="19050">
            <a:solidFill>
              <a:srgbClr val="1E4E8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4800600" y="13716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return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00600" y="16276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4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6.06% EAR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3931920" cy="0"/>
          </a:xfrm>
          <a:prstGeom prst="line">
            <a:avLst/>
          </a:prstGeom>
          <a:noFill/>
          <a:ln w="190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548640" y="25146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buffer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7706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+0.60 pp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800600" y="2423160"/>
            <a:ext cx="393192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4800600" y="25146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classes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27706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types / 7 holdings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3931920" cy="0"/>
          </a:xfrm>
          <a:prstGeom prst="line">
            <a:avLst/>
          </a:prstGeom>
          <a:noFill/>
          <a:ln w="19050">
            <a:solidFill>
              <a:srgbClr val="B4443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548640" y="36576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9136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44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Level 4 — High Risk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800600" y="3566160"/>
            <a:ext cx="39319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4800600" y="36576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horizon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39136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yr accumulate · 30 yr payout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0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6.06%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return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8A97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 5.46% required  ·  </a:t>
            </a:r>
            <a:r>
              <a:rPr lang="en-US" sz="18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+0.60 pp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Level-4 growth portfolio that pays Tom ฿30,000⁠ a month from 60 to 90.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20640" y="822960"/>
            <a:ext cx="0" cy="3383280"/>
          </a:xfrm>
          <a:prstGeom prst="line">
            <a:avLst/>
          </a:prstGeom>
          <a:noFill/>
          <a:ln w="635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486400" y="822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0" y="1188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0" y="1417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IBKR or Saxo Bank + KAsset account. Invest ฿200,000⁠ at target weights.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0" y="19202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0" y="2148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DCA ฿5,000⁠ partitioned by weight.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0" y="26517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0" y="2880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when any class drifts more than ±5 pp. Review risk profile.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0" y="3383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45–55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Glide path: shift equities toward fixed income before retirement.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A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iShares factsheets (IWDA, EIMI, AGGU, REET, IGLN)  ·  Krungsri Asset Management KFMTFI  ·  SEC Thailand suitability risk framework 2025  ·  World Gold Council 2026  ·  Course materials 96643026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766560" y="4754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·  Q&amp;A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1283</Words>
  <Application>Microsoft Macintosh PowerPoint</Application>
  <PresentationFormat>On-screen Show (16:9)</PresentationFormat>
  <Paragraphs>300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Tom Retirement Portfolio</dc:title>
  <dc:subject>PptxGenJS Presentation</dc:subject>
  <dc:creator>Group Workshop — Investment Planning</dc:creator>
  <cp:lastModifiedBy>Napaul Intharasing</cp:lastModifiedBy>
  <cp:revision>2</cp:revision>
  <dcterms:created xsi:type="dcterms:W3CDTF">2026-09-29T15:52:59Z</dcterms:created>
  <dcterms:modified xsi:type="dcterms:W3CDTF">2026-09-29T15:55:14Z</dcterms:modified>
</cp:coreProperties>
</file>