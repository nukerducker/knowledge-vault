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Balance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30</c:v>
                  </c:pt>
                  <c:pt idx="1">
                    <c:v>35</c:v>
                  </c:pt>
                  <c:pt idx="2">
                    <c:v>40</c:v>
                  </c:pt>
                  <c:pt idx="3">
                    <c:v>45</c:v>
                  </c:pt>
                  <c:pt idx="4">
                    <c:v>50</c:v>
                  </c:pt>
                  <c:pt idx="5">
                    <c:v>55</c:v>
                  </c:pt>
                  <c:pt idx="6">
                    <c:v>60</c:v>
                  </c:pt>
                  <c:pt idx="7">
                    <c:v>65</c:v>
                  </c:pt>
                  <c:pt idx="8">
                    <c:v>70</c:v>
                  </c:pt>
                  <c:pt idx="9">
                    <c:v>75</c:v>
                  </c:pt>
                  <c:pt idx="10">
                    <c:v>80</c:v>
                  </c:pt>
                  <c:pt idx="11">
                    <c:v>85</c:v>
                  </c:pt>
                  <c:pt idx="12">
                    <c:v>90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0.2</c:v>
                </c:pt>
                <c:pt idx="1">
                  <c:v>0.58</c:v>
                </c:pt>
                <c:pt idx="2">
                  <c:v>1.13</c:v>
                </c:pt>
                <c:pt idx="3">
                  <c:v>1.85</c:v>
                </c:pt>
                <c:pt idx="4">
                  <c:v>2.72</c:v>
                </c:pt>
                <c:pt idx="5">
                  <c:v>3.85</c:v>
                </c:pt>
                <c:pt idx="6">
                  <c:v>5.41</c:v>
                </c:pt>
                <c:pt idx="7">
                  <c:v>4.95</c:v>
                </c:pt>
                <c:pt idx="8">
                  <c:v>4.44</c:v>
                </c:pt>
                <c:pt idx="9">
                  <c:v>3.73</c:v>
                </c:pt>
                <c:pt idx="10">
                  <c:v>2.8</c:v>
                </c:pt>
                <c:pt idx="11">
                  <c:v>1.58</c:v>
                </c:pt>
                <c:pt idx="1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F7F5F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7F5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5F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4E8C"/>
              </a:solidFill>
              <a:effectLst/>
            </c:spPr>
          </c:dPt>
          <c:dPt>
            <c:idx val="1"/>
            <c:bubble3D val="0"/>
            <c:spPr>
              <a:solidFill>
                <a:srgbClr val="4F7BB8"/>
              </a:solidFill>
              <a:effectLst/>
            </c:spPr>
          </c:dPt>
          <c:dPt>
            <c:idx val="2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bubble3D val="0"/>
            <c:spPr>
              <a:solidFill>
                <a:srgbClr val="6CC3B8"/>
              </a:solidFill>
              <a:effectLst/>
            </c:spPr>
          </c:dPt>
          <c:dPt>
            <c:idx val="4"/>
            <c:bubble3D val="0"/>
            <c:spPr>
              <a:solidFill>
                <a:srgbClr val="94A3B8"/>
              </a:solidFill>
              <a:effectLst/>
            </c:spPr>
          </c:dPt>
          <c:dPt>
            <c:idx val="5"/>
            <c:bubble3D val="0"/>
            <c:spPr>
              <a:solidFill>
                <a:srgbClr val="C9A227"/>
              </a:solidFill>
              <a:effectLst/>
            </c:spPr>
          </c:dPt>
          <c:dPt>
            <c:idx val="6"/>
            <c:bubble3D val="0"/>
            <c:spPr>
              <a:solidFill>
                <a:srgbClr val="E3C76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IWDA</c:v>
                </c:pt>
                <c:pt idx="1">
                  <c:v>EIMI</c:v>
                </c:pt>
                <c:pt idx="2">
                  <c:v>AGGU</c:v>
                </c:pt>
                <c:pt idx="3">
                  <c:v>KFMTFI</c:v>
                </c:pt>
                <c:pt idx="4">
                  <c:v>Kept</c:v>
                </c:pt>
                <c:pt idx="5">
                  <c:v>REET</c:v>
                </c:pt>
                <c:pt idx="6">
                  <c:v>IGLN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32</c:v>
                </c:pt>
                <c:pt idx="1">
                  <c:v>8</c:v>
                </c:pt>
                <c:pt idx="2">
                  <c:v>28</c:v>
                </c:pt>
                <c:pt idx="3">
                  <c:v>10</c:v>
                </c:pt>
                <c:pt idx="4">
                  <c:v>5</c:v>
                </c:pt>
                <c:pt idx="5">
                  <c:v>10</c:v>
                </c:pt>
                <c:pt idx="6">
                  <c:v>7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7F5F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96643026 INVESTMENT PLANNING  ·  GROUP WORKSHOP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Retiring Well Abroad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9B4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฿5,000 a month becomes ฿30,000 a month, from 60 to 90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82296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931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Tithipan Thepsuthin  ·  Chuthathip Termchaikul  ·  Techin Lohapongpan  ·  Napaul Intharasing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Sakdipat Krishanachinda  ·  September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Thirty years of saving must fund thirty years of spending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2588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today  ·  expat, Thailand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023360" y="1463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16636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0" y="1463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035040" y="16916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horizon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4005072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212848"/>
            <a:ext cx="4005072" cy="91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77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ACCUMULATION  ·  360 MONTHS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2377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DECUMULATION  ·  360 MONTHS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743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฿200,000 now  +  ฿5,000 a month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154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฿2.0M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in over 30 years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743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฿30,000 a month, every month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฿10.8M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66344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out, age 60 to 90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has to turn ฿2.0M of savings into ฿10.8M of income.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5.46% a year is the break-even: the ฿5.41M built by 60 lasts exactly to 90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5.46%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return, EAR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487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0.4440% per month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0" y="1234440"/>
            <a:ext cx="0" cy="137160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0" y="123444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FV⁠₆₀ = 200,000×(1+i)³⁶⁰ + 5,000×[(1+i)³⁶⁰−1]/i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= ฿5,413,120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PV⁠₆₀ = 30,000×(1+i)×[1−(1+i)⁻³⁶⁰]/i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= ฿5,407,039</a:t>
            </a:r>
            <a:endParaRPr lang="en-US" sz="10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 = PV  →  solved by Excel Goal Seek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65760" y="2697480"/>
          <a:ext cx="84124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3931920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฿5.41M at 60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84632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compounding  ·  withdrawals at start of month  ·  nominal ฿  ·  no inflation, taxes or fees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8A97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 100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54864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 4 — High Risk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band 30–36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49040" y="4572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score of 35 lets Tom put two-thirds of his money to work for growth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749040" y="2011680"/>
            <a:ext cx="242316" cy="5029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737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91356" y="2011680"/>
            <a:ext cx="135697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91356" y="2011680"/>
            <a:ext cx="1356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48326" y="2011680"/>
            <a:ext cx="3247034" cy="502920"/>
          </a:xfrm>
          <a:prstGeom prst="rect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8326" y="2011680"/>
            <a:ext cx="32470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749040" y="2852928"/>
            <a:ext cx="109728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2788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5%</a:t>
            </a:r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Capital safety  ·  Krungsri Kept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49040" y="3172968"/>
            <a:ext cx="109728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3108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28%</a:t>
            </a:r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Income &amp; stability  ·  AGGU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49040" y="3493008"/>
            <a:ext cx="109728" cy="109728"/>
          </a:xfrm>
          <a:prstGeom prst="rect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0" y="3429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67%</a:t>
            </a:r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Long-term growth  ·  IWDA, EIMI, REET, IGLN, KFMTFI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49040" y="3931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30-year horizon to recover  ·  steady ฿5k/month DCA  ·  5.46% target is above deposit rates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holdings earn 6.06%, 0.60 points more than Tom needs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3840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234440" y="25603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6.06%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234440" y="3154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p.a.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54880" y="12344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+0.60 pp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5.46% required return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0" y="22402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132320" y="22402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754880" y="2606040"/>
            <a:ext cx="91440" cy="91440"/>
          </a:xfrm>
          <a:prstGeom prst="rect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0" y="2514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Equities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2743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IWDA 32%  +  EIMI 8%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400800" y="2514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132320" y="25146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3.80 pp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54880" y="2944368"/>
            <a:ext cx="310896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54880" y="3063240"/>
            <a:ext cx="91440" cy="914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37760" y="2971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Income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37760" y="32004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AGGU 28%  +  KFMTFI 10%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400800" y="29718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132320" y="29718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1.33 pp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754880" y="3401568"/>
            <a:ext cx="310896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754880" y="3520440"/>
            <a:ext cx="91440" cy="91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37760" y="3429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937760" y="36576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REET 10%  +  IGLN 7%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400800" y="34290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132320" y="34290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 pp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754880" y="3858768"/>
            <a:ext cx="310896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754880" y="3977640"/>
            <a:ext cx="91440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37760" y="38862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937760" y="41148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Krungsri Kept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400800" y="38862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132320" y="3886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 pp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754880" y="4361688"/>
            <a:ext cx="310896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937760" y="4407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400800" y="44074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132320" y="44074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6.06%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Developed markets carry the return; emerging markets stay an 8% satellite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1E4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IWDA  ·  MSCI World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4F7B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EIMI  ·  MSCI 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1920240"/>
            <a:ext cx="603504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3063240"/>
            <a:ext cx="603504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1792224"/>
            <a:ext cx="502920" cy="256032"/>
          </a:xfrm>
          <a:prstGeom prst="rect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82712" y="1783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10–11%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2935224"/>
            <a:ext cx="1005840" cy="256032"/>
          </a:xfrm>
          <a:prstGeom prst="rect">
            <a:avLst/>
          </a:prstGeom>
          <a:solidFill>
            <a:srgbClr val="4F7BB8"/>
          </a:solidFill>
          <a:ln w="12700">
            <a:solidFill>
              <a:srgbClr val="4F7B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0" y="32461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4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straddles target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23383" y="1463040"/>
            <a:ext cx="0" cy="2194560"/>
          </a:xfrm>
          <a:prstGeom prst="line">
            <a:avLst/>
          </a:prstGeom>
          <a:noFill/>
          <a:ln w="12700">
            <a:solidFill>
              <a:srgbClr val="B4443A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849063" y="1234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5.46%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4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77440" y="3749040"/>
            <a:ext cx="603504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0280" y="37947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77440" y="3721608"/>
            <a:ext cx="0" cy="45720"/>
          </a:xfrm>
          <a:prstGeom prst="line">
            <a:avLst/>
          </a:prstGeom>
          <a:noFill/>
          <a:ln w="6350">
            <a:solidFill>
              <a:srgbClr val="6B72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37947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89120" y="3721608"/>
            <a:ext cx="0" cy="45720"/>
          </a:xfrm>
          <a:prstGeom prst="line">
            <a:avLst/>
          </a:prstGeom>
          <a:noFill/>
          <a:ln w="6350">
            <a:solidFill>
              <a:srgbClr val="6B7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37947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0" y="3721608"/>
            <a:ext cx="0" cy="45720"/>
          </a:xfrm>
          <a:prstGeom prst="line">
            <a:avLst/>
          </a:prstGeom>
          <a:noFill/>
          <a:ln w="6350">
            <a:solidFill>
              <a:srgbClr val="6B72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37947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412480" y="3721608"/>
            <a:ext cx="0" cy="45720"/>
          </a:xfrm>
          <a:prstGeom prst="line">
            <a:avLst/>
          </a:prstGeom>
          <a:noFill/>
          <a:ln w="6350">
            <a:solidFill>
              <a:srgbClr val="6B72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IWDA: ~1,500 stocks, 23 developed markets, TER 0.20%, 10-yr return ~10–11%, P/E ~18–19×. Core growth engine.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EIMI: China ~25%, India ~20%, 10-yr return ~4–6%, higher volatility. Diversification satellite, capped at 8%.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8006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iShares factsheets IWDA IE00B4L5Y983, EIMI IE00BKM4GZ66  ·  data as of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None of the 43% in bonds and cash clears 5.46%. It is there to cushion, not to grow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959559"/>
            <a:ext cx="5303520" cy="0"/>
          </a:xfrm>
          <a:prstGeom prst="line">
            <a:avLst/>
          </a:prstGeom>
          <a:noFill/>
          <a:ln w="12700">
            <a:solidFill>
              <a:srgbClr val="B4443A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1703527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5.46% required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478024"/>
            <a:ext cx="3328416" cy="172821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54580"/>
            <a:ext cx="3328416" cy="123444"/>
          </a:xfrm>
          <a:prstGeom prst="rect">
            <a:avLst/>
          </a:prstGeom>
          <a:solidFill>
            <a:srgbClr val="6CC3B8"/>
          </a:solidFill>
          <a:ln w="12700">
            <a:solidFill>
              <a:srgbClr val="6CC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98548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YTM 4.2–4.5%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25196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AGGU  ·  28%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31920" y="3177540"/>
            <a:ext cx="1188720" cy="1028700"/>
          </a:xfrm>
          <a:prstGeom prst="rect">
            <a:avLst/>
          </a:prstGeom>
          <a:solidFill>
            <a:srgbClr val="6CC3B8"/>
          </a:solidFill>
          <a:ln w="12700">
            <a:solidFill>
              <a:srgbClr val="6CC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0" y="2971800"/>
            <a:ext cx="1188720" cy="205740"/>
          </a:xfrm>
          <a:prstGeom prst="rect">
            <a:avLst/>
          </a:prstGeom>
          <a:solidFill>
            <a:srgbClr val="6CC3B8">
              <a:alpha val="50000"/>
            </a:srgbClr>
          </a:solidFill>
          <a:ln w="12700">
            <a:solidFill>
              <a:srgbClr val="6CC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27157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2.5–3%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4251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KFMTFI  ·  10%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75504" y="3589020"/>
            <a:ext cx="594360" cy="6172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38344" y="333298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38344" y="42519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 ·  5%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5303520" cy="0"/>
          </a:xfrm>
          <a:prstGeom prst="line">
            <a:avLst/>
          </a:prstGeom>
          <a:noFill/>
          <a:ln w="9525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5537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= portfolio weight  ·  height = yield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1828800"/>
            <a:ext cx="0" cy="246888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828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RATES RISE 1%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20574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B44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−7%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6400800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AGGU price drop (7-yr duration)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3246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KFMTFI: short duration, minimal impact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Buy-and-hold recovers it: higher rates lift reinvestment income.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major risk in the plan has a named buffer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17320" y="1005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REET  ·  global REITs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rent increases pass through to investors; yield 3.5–4.5%, 10-yr return 5–7%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1005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40680" y="10058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IGLN  ·  physical gold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0.1–0.2 correlation to equities; 10-yr return ~8–9%; tends to rise when stocks fall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0" y="1828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804672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396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drawdown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21396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 crash on 40% equity sleeve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21396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30-yr horizon absorbs; monthly DCA buys the dip; AGGU + IGLN buffer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505456"/>
            <a:ext cx="804672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5420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Interest-rate rise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25420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AGGU ≈ −7% per +1% rate increase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25420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KFMTFI short duration offsets; hold to maturity recovers value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2907792"/>
            <a:ext cx="804672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(USD/THB)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29443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 of assets in foreign currency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29443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THB anchor (KFMTFI + Kept); long horizon averages FX cycles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310128"/>
            <a:ext cx="804672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328416"/>
            <a:ext cx="8046720" cy="365760"/>
          </a:xfrm>
          <a:prstGeom prst="rect">
            <a:avLst/>
          </a:prstGeom>
          <a:solidFill>
            <a:srgbClr val="C9A227">
              <a:alpha val="15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3467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86000" y="33467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Erodes ฿30,000/month real value over 30 yr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33467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REET passes rent increases; IGLN preserves real value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712464"/>
            <a:ext cx="804672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86000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sell in market stress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46320" y="3749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ETFs listed NYSE/LSE, high daily volume, no lock-up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114800"/>
            <a:ext cx="804672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1513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Broker/custody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286000" y="41513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insolvency risk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46320" y="41513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SIPC cover up to US$500k via IBKR; assets held separately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Interactive Brokers or Saxo Bank Thailand (UCITS ETFs)  ·  KFMTFI via KAsset app  ·  SIPC via US-regulated broker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6.06%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return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A97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 5.46% required  ·  </a:t>
            </a:r>
            <a:pPr algn="l" indent="0" marL="0">
              <a:buNone/>
            </a:pPr>
            <a:r>
              <a:rPr lang="en-US" sz="1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+0.60 pp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Level-4 growth portfolio that pays Tom ฿30,000⁠ a month from 60 to 90.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20640" y="822960"/>
            <a:ext cx="0" cy="338328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0" y="822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0" y="1188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1417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IBKR or Saxo Bank + KAsset account. Invest ฿200,000 at target weights.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0" y="1920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0" y="2148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DCA ฿5,000 partitioned by weight.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0" y="2651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0" y="2880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when any class drifts more than ±5 pp. Review risk profile.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0" y="3383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45–55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Glide path: shift equities toward fixed income before retirement.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iShares factsheets (IWDA, EIMI, AGGU, REET, IGLN)  ·  Krungsri Asset Management KFMTFI fund fact sheet  ·  SEC Thailand suitability risk framework 2025  ·  World Gold Council 2026  ·  Course materials 96643026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76656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·  Q&amp;A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Tom Retirement Portfolio</dc:title>
  <dc:subject>PptxGenJS Presentation</dc:subject>
  <dc:creator>Group Workshop — Investment Planning</dc:creator>
  <cp:lastModifiedBy>Group Workshop — Investment Planning</cp:lastModifiedBy>
  <cp:revision>1</cp:revision>
  <dcterms:created xsi:type="dcterms:W3CDTF">2026-09-29T15:44:25Z</dcterms:created>
  <dcterms:modified xsi:type="dcterms:W3CDTF">2026-09-29T15:44:25Z</dcterms:modified>
</cp:coreProperties>
</file>