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Portfolio Balance</c:v>
                </c:pt>
              </c:strCache>
            </c:strRef>
          </c:tx>
          <c:spPr>
            <a:solidFill>
              <a:srgbClr val="1E4E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4E8C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30</c:v>
                  </c:pt>
                  <c:pt idx="1">
                    <c:v>35</c:v>
                  </c:pt>
                  <c:pt idx="2">
                    <c:v>40</c:v>
                  </c:pt>
                  <c:pt idx="3">
                    <c:v>45</c:v>
                  </c:pt>
                  <c:pt idx="4">
                    <c:v>50</c:v>
                  </c:pt>
                  <c:pt idx="5">
                    <c:v>55</c:v>
                  </c:pt>
                  <c:pt idx="6">
                    <c:v>60</c:v>
                  </c:pt>
                  <c:pt idx="7">
                    <c:v>65</c:v>
                  </c:pt>
                  <c:pt idx="8">
                    <c:v>70</c:v>
                  </c:pt>
                  <c:pt idx="9">
                    <c:v>75</c:v>
                  </c:pt>
                  <c:pt idx="10">
                    <c:v>80</c:v>
                  </c:pt>
                  <c:pt idx="11">
                    <c:v>85</c:v>
                  </c:pt>
                  <c:pt idx="12">
                    <c:v>90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0.2</c:v>
                </c:pt>
                <c:pt idx="1">
                  <c:v>0.58</c:v>
                </c:pt>
                <c:pt idx="2">
                  <c:v>1.13</c:v>
                </c:pt>
                <c:pt idx="3">
                  <c:v>1.85</c:v>
                </c:pt>
                <c:pt idx="4">
                  <c:v>2.72</c:v>
                </c:pt>
                <c:pt idx="5">
                  <c:v>3.85</c:v>
                </c:pt>
                <c:pt idx="6">
                  <c:v>5.41</c:v>
                </c:pt>
                <c:pt idx="7">
                  <c:v>4.95</c:v>
                </c:pt>
                <c:pt idx="8">
                  <c:v>4.44</c:v>
                </c:pt>
                <c:pt idx="9">
                  <c:v>3.85</c:v>
                </c:pt>
                <c:pt idx="10">
                  <c:v>3.17</c:v>
                </c:pt>
                <c:pt idx="11">
                  <c:v>2.06</c:v>
                </c:pt>
                <c:pt idx="1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4E8C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1D8"/>
              </a:solidFill>
              <a:prstDash val="solid"/>
              <a:round/>
            </a:ln>
          </c:spPr>
        </c:majorGridlines>
        <c:numFmt formatCode="฿#,##0.0M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7F5F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94A3B8"/>
              </a:solidFill>
              <a:effectLst/>
            </c:spPr>
          </c:dPt>
          <c:dPt>
            <c:idx val="1"/>
            <c:bubble3D val="0"/>
            <c:spPr>
              <a:solidFill>
                <a:srgbClr val="1E4E8C"/>
              </a:solidFill>
              <a:effectLst/>
            </c:spPr>
          </c:dPt>
          <c:dPt>
            <c:idx val="2"/>
            <c:bubble3D val="0"/>
            <c:spPr>
              <a:solidFill>
                <a:srgbClr val="4F7BB8"/>
              </a:solidFill>
              <a:effectLst/>
            </c:spPr>
          </c:dPt>
          <c:dPt>
            <c:idx val="3"/>
            <c:bubble3D val="0"/>
            <c:spPr>
              <a:solidFill>
                <a:srgbClr val="2A9D8F"/>
              </a:solidFill>
              <a:effectLst/>
            </c:spPr>
          </c:dPt>
          <c:dPt>
            <c:idx val="4"/>
            <c:bubble3D val="0"/>
            <c:spPr>
              <a:solidFill>
                <a:srgbClr val="6CC3B8"/>
              </a:solidFill>
              <a:effectLst/>
            </c:spPr>
          </c:dPt>
          <c:dPt>
            <c:idx val="5"/>
            <c:bubble3D val="0"/>
            <c:spPr>
              <a:solidFill>
                <a:srgbClr val="C9A227"/>
              </a:solidFill>
              <a:effectLst/>
            </c:spPr>
          </c:dPt>
          <c:dPt>
            <c:idx val="6"/>
            <c:bubble3D val="0"/>
            <c:spPr>
              <a:solidFill>
                <a:srgbClr val="E3C76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Krungsri Kept</c:v>
                </c:pt>
                <c:pt idx="1">
                  <c:v>IWDA</c:v>
                </c:pt>
                <c:pt idx="2">
                  <c:v>EIMI</c:v>
                </c:pt>
                <c:pt idx="3">
                  <c:v>AGGU</c:v>
                </c:pt>
                <c:pt idx="4">
                  <c:v>KFMTFI</c:v>
                </c:pt>
                <c:pt idx="5">
                  <c:v>REET</c:v>
                </c:pt>
                <c:pt idx="6">
                  <c:v>IGLN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5</c:v>
                </c:pt>
                <c:pt idx="1">
                  <c:v>32</c:v>
                </c:pt>
                <c:pt idx="2">
                  <c:v>8</c:v>
                </c:pt>
                <c:pt idx="3">
                  <c:v>28</c:v>
                </c:pt>
                <c:pt idx="4">
                  <c:v>10</c:v>
                </c:pt>
                <c:pt idx="5">
                  <c:v>10</c:v>
                </c:pt>
                <c:pt idx="6">
                  <c:v>7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solidFill>
      <a:srgbClr val="F7F5F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097280"/>
            <a:ext cx="54864" cy="21945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96643026 INVESTMENT PLANNING · GROUP WORKSHOP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Retiring Well Abroad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30-Year Retirement Portfolio for Tom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090672"/>
            <a:ext cx="54864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09067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฿200k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lump sum  ·  </a:t>
            </a:r>
            <a:pPr algn="ctr"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฿5k/month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Retire </a:t>
            </a:r>
            <a:pPr algn="ctr"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ctr"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฿30k/month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90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 rot="-3615307">
            <a:off x="6492240" y="4114800"/>
            <a:ext cx="737213" cy="0"/>
          </a:xfrm>
          <a:prstGeom prst="line">
            <a:avLst/>
          </a:prstGeom>
          <a:noFill/>
          <a:ln w="19050">
            <a:solidFill>
              <a:srgbClr val="C9A227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-3806097">
            <a:off x="6858000" y="3474720"/>
            <a:ext cx="817864" cy="0"/>
          </a:xfrm>
          <a:prstGeom prst="line">
            <a:avLst/>
          </a:prstGeom>
          <a:noFill/>
          <a:ln w="19050">
            <a:solidFill>
              <a:srgbClr val="C9A227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3806097">
            <a:off x="7223760" y="2743200"/>
            <a:ext cx="817864" cy="0"/>
          </a:xfrm>
          <a:prstGeom prst="line">
            <a:avLst/>
          </a:prstGeom>
          <a:noFill/>
          <a:ln w="19050">
            <a:solidFill>
              <a:srgbClr val="C9A227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-3378596">
            <a:off x="7589520" y="2011680"/>
            <a:ext cx="659383" cy="0"/>
          </a:xfrm>
          <a:prstGeom prst="line">
            <a:avLst/>
          </a:prstGeom>
          <a:noFill/>
          <a:ln w="19050">
            <a:solidFill>
              <a:srgbClr val="C9A227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3378596">
            <a:off x="7955280" y="1463040"/>
            <a:ext cx="659383" cy="0"/>
          </a:xfrm>
          <a:prstGeom prst="line">
            <a:avLst/>
          </a:prstGeom>
          <a:noFill/>
          <a:ln w="19050">
            <a:solidFill>
              <a:srgbClr val="C9A227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3806097">
            <a:off x="8321040" y="2011680"/>
            <a:ext cx="613398" cy="0"/>
          </a:xfrm>
          <a:prstGeom prst="line">
            <a:avLst/>
          </a:prstGeom>
          <a:noFill/>
          <a:ln w="19050">
            <a:solidFill>
              <a:srgbClr val="C9A227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280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412480" y="2468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42062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Tithipan Thepsuthin · Chuthathip Termchaikul · Techin Lohapongpan · Napaul Intharasing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Sakdipat Krishanachinda  ·  September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CLIENT PROFILE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Tom's Case at a Glance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96643026 Investment Planning · Group Workshop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0" y="482803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338328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1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43000"/>
            <a:ext cx="338328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1417320"/>
            <a:ext cx="822960" cy="8229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1417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103120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Tom, Age 30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103120" y="17830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Expat in Thailand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423160"/>
            <a:ext cx="13716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1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423160"/>
            <a:ext cx="1371600" cy="54864"/>
          </a:xfrm>
          <a:prstGeom prst="rect">
            <a:avLst/>
          </a:prstGeom>
          <a:solidFill>
            <a:srgbClr val="1E4E8C"/>
          </a:solidFill>
          <a:ln w="12700">
            <a:solidFill>
              <a:srgbClr val="1E4E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55117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฿200,000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28986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Lump sum today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011680" y="2423160"/>
            <a:ext cx="13716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1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011680" y="2423160"/>
            <a:ext cx="1371600" cy="548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1680" y="255117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฿5,000/mo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011680" y="28986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contribution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" y="3383280"/>
            <a:ext cx="13716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1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3383280"/>
            <a:ext cx="1371600" cy="54864"/>
          </a:xfrm>
          <a:prstGeom prst="rect">
            <a:avLst/>
          </a:prstGeom>
          <a:solidFill>
            <a:srgbClr val="1E4E8C"/>
          </a:solidFill>
          <a:ln w="12700">
            <a:solidFill>
              <a:srgbClr val="1E4E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51129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 60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38587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retirement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011680" y="3383280"/>
            <a:ext cx="13716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1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011680" y="3383280"/>
            <a:ext cx="1371600" cy="548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11680" y="351129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฿30,000/mo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011680" y="38587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income needed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023360" y="2423160"/>
            <a:ext cx="470916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913632" y="2368296"/>
            <a:ext cx="219456" cy="21945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0" y="26334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089904" y="2368296"/>
            <a:ext cx="219456" cy="21945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16752" y="26334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211312" y="2368296"/>
            <a:ext cx="219456" cy="21945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38160" y="26334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023360" y="2176272"/>
            <a:ext cx="2176272" cy="201168"/>
          </a:xfrm>
          <a:prstGeom prst="rect">
            <a:avLst/>
          </a:prstGeom>
          <a:solidFill>
            <a:srgbClr val="1E4E8C"/>
          </a:solidFill>
          <a:ln w="12700">
            <a:solidFill>
              <a:srgbClr val="1E4E8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23360" y="2176272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Accumulation · 360 months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99632" y="2176272"/>
            <a:ext cx="2121408" cy="20116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99632" y="2176272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Decumulation · 360 months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023360" y="2907792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paid in: ฿2.0M (฿200k + ฿5k × 360)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99632" y="2907792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drawn out: ฿10.8M (฿30k × 360)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931920" y="3337560"/>
            <a:ext cx="4754880" cy="68580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931920" y="3337560"/>
            <a:ext cx="4754880" cy="685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find the return that turns ฿2.0M of contributions into ฿10.8M of retirement income.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931920" y="4114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retires in Thailand · spends in Thai Baht · 30-year payout phase (age 60–90)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REQUIRED RATE OF RETURN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Solving for i* — Time Value of Money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96643026 Investment Planning · Group Workshop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0" y="482803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402336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1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43000"/>
            <a:ext cx="4023360" cy="54864"/>
          </a:xfrm>
          <a:prstGeom prst="rect">
            <a:avLst/>
          </a:prstGeom>
          <a:solidFill>
            <a:srgbClr val="1E4E8C"/>
          </a:solidFill>
          <a:ln w="12700">
            <a:solidFill>
              <a:srgbClr val="1E4E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070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Accumulation — FV at Age 60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4813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FV = 200,000×(1+i)³⁶⁰ + 5,000×[(1+i)³⁶⁰−1]/i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7556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FV₆₀ = ฿5,413,120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2304288"/>
            <a:ext cx="402336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1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2304288"/>
            <a:ext cx="4023360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682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Decumulation — PV at Age 60 (annuity due)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6426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= 30,000×(1+i)×[1−(1+i)⁻³⁶⁰]/i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29169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PV₆₀ = ฿5,407,039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3493008"/>
            <a:ext cx="4023360" cy="8686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49300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i* = 0.4440% / month  →  5.4606% EAR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11480" y="39959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 = (1.004440)¹² − 1 = 5.4606%  ·  Solved via Excel Goal Seek</a:t>
            </a:r>
            <a:endParaRPr lang="en-US" sz="9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4572000" y="1097280"/>
          <a:ext cx="416052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7"/>
          <p:cNvSpPr/>
          <p:nvPr/>
        </p:nvSpPr>
        <p:spPr>
          <a:xfrm>
            <a:off x="6400800" y="1188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฿5.41M at 60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858000" y="1463040"/>
            <a:ext cx="0" cy="274320"/>
          </a:xfrm>
          <a:prstGeom prst="line">
            <a:avLst/>
          </a:prstGeom>
          <a:noFill/>
          <a:ln w="12700">
            <a:solidFill>
              <a:srgbClr val="C9A227"/>
            </a:solidFill>
            <a:prstDash val="dash"/>
          </a:ln>
        </p:spPr>
      </p:sp>
      <p:sp>
        <p:nvSpPr>
          <p:cNvPr id="22" name="Text 19"/>
          <p:cNvSpPr/>
          <p:nvPr/>
        </p:nvSpPr>
        <p:spPr>
          <a:xfrm>
            <a:off x="4572000" y="41605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compounding  ·  contributions &amp; withdrawals at start of month (annuity due)  ·  nominal ฿  ·  no inflation adjustment  ·  no taxes/fees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RISK PROFILE &amp; ALLOCATION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Assessment — Score 35 — Level 4 High Risk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96643026 Investment Planning · Group Workshop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0" y="482803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347472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1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43000"/>
            <a:ext cx="3474720" cy="54864"/>
          </a:xfrm>
          <a:prstGeom prst="rect">
            <a:avLst/>
          </a:prstGeom>
          <a:solidFill>
            <a:srgbClr val="B4443A"/>
          </a:solidFill>
          <a:ln w="12700">
            <a:solidFill>
              <a:srgbClr val="B444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984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6002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502920" y="23317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100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60120" y="265176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B4443A"/>
          </a:solidFill>
          <a:ln w="12700">
            <a:solidFill>
              <a:srgbClr val="B444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6517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 ·  High Risk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0632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band 30–36 per SEC framework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401568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364992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30-year horizon — time to recover from drawdowns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675888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639312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฿5k/month inflow (dollar-cost averaging)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950208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3913632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5.46% EAR — above deposit rates, growth assets required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069080" y="11887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3-Basket Technique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069080" y="1554480"/>
            <a:ext cx="233172" cy="5029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02252" y="1554480"/>
            <a:ext cx="1305763" cy="5029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02252" y="1554480"/>
            <a:ext cx="130576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28%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08015" y="1554480"/>
            <a:ext cx="3124505" cy="502920"/>
          </a:xfrm>
          <a:prstGeom prst="rect">
            <a:avLst/>
          </a:prstGeom>
          <a:solidFill>
            <a:srgbClr val="1E4E8C"/>
          </a:solidFill>
          <a:ln w="12700">
            <a:solidFill>
              <a:srgbClr val="1E4E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08015" y="1554480"/>
            <a:ext cx="312450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67%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069080" y="1417320"/>
            <a:ext cx="2377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5%↑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069080" y="2194560"/>
            <a:ext cx="1444752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1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069080" y="2194560"/>
            <a:ext cx="1444752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0" y="2313432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 5%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114800" y="2633472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safety &amp; liquidity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206240" y="3017520"/>
            <a:ext cx="1170432" cy="0"/>
          </a:xfrm>
          <a:prstGeom prst="line">
            <a:avLst/>
          </a:prstGeom>
          <a:noFill/>
          <a:ln w="6350">
            <a:solidFill>
              <a:srgbClr val="E5E1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0" y="3090672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Holdings: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114800" y="3291840"/>
            <a:ext cx="1353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Krungsri Kept (1.5% p.a.)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605272" y="2194560"/>
            <a:ext cx="1444752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1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605272" y="2194560"/>
            <a:ext cx="1444752" cy="548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50992" y="2313432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Medium 28%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650992" y="2633472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&amp; stability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742432" y="3017520"/>
            <a:ext cx="1170432" cy="0"/>
          </a:xfrm>
          <a:prstGeom prst="line">
            <a:avLst/>
          </a:prstGeom>
          <a:noFill/>
          <a:ln w="6350">
            <a:solidFill>
              <a:srgbClr val="E5E1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50992" y="3090672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Holdings: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650992" y="3291840"/>
            <a:ext cx="1353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AGGU — Global IG bonds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141464" y="2194560"/>
            <a:ext cx="1444752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1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141464" y="2194560"/>
            <a:ext cx="1444752" cy="54864"/>
          </a:xfrm>
          <a:prstGeom prst="rect">
            <a:avLst/>
          </a:prstGeom>
          <a:solidFill>
            <a:srgbClr val="1E4E8C"/>
          </a:solidFill>
          <a:ln w="12700">
            <a:solidFill>
              <a:srgbClr val="1E4E8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87184" y="2313432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67%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187184" y="2633472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growth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278624" y="3017520"/>
            <a:ext cx="1170432" cy="0"/>
          </a:xfrm>
          <a:prstGeom prst="line">
            <a:avLst/>
          </a:prstGeom>
          <a:noFill/>
          <a:ln w="6350">
            <a:solidFill>
              <a:srgbClr val="E5E1D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87184" y="3090672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Holdings: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187184" y="3291840"/>
            <a:ext cx="1353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IWDA · EIMI · REET · IGLN · KFMTFI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069080" y="440740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2 instruments per asset class  ·  4 asset classes per course taxonomy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PORTFOLIO 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Tom's Global Diversified Retirement Portfolio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96643026 Investment Planning · Group Workshop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0" y="482803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11480" y="1097280"/>
          <a:ext cx="3657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1188720" y="20116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6.06%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188720" y="2560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p.a.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51960" y="1097280"/>
          <a:ext cx="4480560" cy="2926080"/>
        </p:xfrm>
        <a:graphic>
          <a:graphicData uri="http://schemas.openxmlformats.org/drawingml/2006/table">
            <a:tbl>
              <a:tblPr/>
              <a:tblGrid>
                <a:gridCol w="256032"/>
                <a:gridCol w="1261872"/>
                <a:gridCol w="1572768"/>
                <a:gridCol w="457200"/>
                <a:gridCol w="502920"/>
                <a:gridCol w="429768"/>
              </a:tblGrid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 Class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Holdings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Exp. Ret.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Deposits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(เงินฝาก)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Krungsri Kept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 pp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4E8C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(ตราสารทุน)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IWDA 32% + EIMI 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4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4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3.80 pp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A9D8F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Income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(ตราสารหนี้)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AGGU 28% + KFMTFI 10%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1.33 pp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9A227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(สินทรัพย์ทางเลือก)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REET 10% + IGLN 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 pp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holdings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9A227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6.06%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11480" y="4114800"/>
            <a:ext cx="8321040" cy="6400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0080" y="4224528"/>
            <a:ext cx="4155948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40080" y="4224528"/>
            <a:ext cx="4155948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6.06%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640080" y="4443984"/>
            <a:ext cx="3744468" cy="16459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40080" y="4443984"/>
            <a:ext cx="3744468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5.46%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7589520" y="4206240"/>
            <a:ext cx="1005840" cy="420624"/>
          </a:xfrm>
          <a:prstGeom prst="roundRect">
            <a:avLst>
              <a:gd name="adj" fmla="val 17391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589520" y="420624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+0.60 pp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ASSET ANALYSIS — EQUITIES (40%)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Equity Exposure: IWDA + EIMI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96643026 Investment Planning · Group Workshop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0" y="482803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40690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1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43000"/>
            <a:ext cx="4069080" cy="54864"/>
          </a:xfrm>
          <a:prstGeom prst="rect">
            <a:avLst/>
          </a:prstGeom>
          <a:solidFill>
            <a:srgbClr val="1E4E8C"/>
          </a:solidFill>
          <a:ln w="12700">
            <a:solidFill>
              <a:srgbClr val="1E4E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0700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IWDA — iShares Core MSCI World  ·  32%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48132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IE00B4L5Y983  ·  TER 0.20%  ·  Acc. share class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7647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~1,500 stocks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23160" y="17647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developed markets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02082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10-yr return ~10–11%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23160" y="202082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P/E ratio ~18–19×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35915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core growth engine — developed markets compounding over 30 years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1143000"/>
            <a:ext cx="40690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1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143000"/>
            <a:ext cx="4069080" cy="54864"/>
          </a:xfrm>
          <a:prstGeom prst="rect">
            <a:avLst/>
          </a:prstGeom>
          <a:solidFill>
            <a:srgbClr val="4F7BB8"/>
          </a:solidFill>
          <a:ln w="12700">
            <a:solidFill>
              <a:srgbClr val="4F7B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20700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EIMI — iShares MSCI Emerging Markets  ·  8%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148132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IE00BKM4GZ66  ·  Satellite allocation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0" y="17647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~25%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75120" y="17647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~20%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202082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10-yr return ~4–6%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75120" y="202082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volatility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235915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F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diversify away from US/Europe concentration; capped at 8%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1480" y="31821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Annualised Return Range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1480" y="4343400"/>
            <a:ext cx="5029200" cy="0"/>
          </a:xfrm>
          <a:prstGeom prst="line">
            <a:avLst/>
          </a:prstGeom>
          <a:noFill/>
          <a:ln w="6350">
            <a:solidFill>
              <a:srgbClr val="6B72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3708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11480" y="4315968"/>
            <a:ext cx="0" cy="45720"/>
          </a:xfrm>
          <a:prstGeom prst="line">
            <a:avLst/>
          </a:prstGeom>
          <a:noFill/>
          <a:ln w="6350">
            <a:solidFill>
              <a:srgbClr val="6B72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12520" y="43708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249680" y="4315968"/>
            <a:ext cx="0" cy="45720"/>
          </a:xfrm>
          <a:prstGeom prst="line">
            <a:avLst/>
          </a:prstGeom>
          <a:noFill/>
          <a:ln w="6350">
            <a:solidFill>
              <a:srgbClr val="6B72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50720" y="43708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087880" y="4315968"/>
            <a:ext cx="0" cy="45720"/>
          </a:xfrm>
          <a:prstGeom prst="line">
            <a:avLst/>
          </a:prstGeom>
          <a:noFill/>
          <a:ln w="6350">
            <a:solidFill>
              <a:srgbClr val="6B72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88920" y="43708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926080" y="4315968"/>
            <a:ext cx="0" cy="45720"/>
          </a:xfrm>
          <a:prstGeom prst="line">
            <a:avLst/>
          </a:prstGeom>
          <a:noFill/>
          <a:ln w="6350">
            <a:solidFill>
              <a:srgbClr val="6B72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27120" y="43708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764280" y="4315968"/>
            <a:ext cx="0" cy="45720"/>
          </a:xfrm>
          <a:prstGeom prst="line">
            <a:avLst/>
          </a:prstGeom>
          <a:noFill/>
          <a:ln w="6350">
            <a:solidFill>
              <a:srgbClr val="6B72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65320" y="43708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602480" y="4315968"/>
            <a:ext cx="0" cy="45720"/>
          </a:xfrm>
          <a:prstGeom prst="line">
            <a:avLst/>
          </a:prstGeom>
          <a:noFill/>
          <a:ln w="6350">
            <a:solidFill>
              <a:srgbClr val="6B728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03520" y="43708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440680" y="4315968"/>
            <a:ext cx="0" cy="45720"/>
          </a:xfrm>
          <a:prstGeom prst="line">
            <a:avLst/>
          </a:prstGeom>
          <a:noFill/>
          <a:ln w="6350">
            <a:solidFill>
              <a:srgbClr val="6B728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3611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IWDA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48200" y="3657600"/>
            <a:ext cx="419100" cy="228600"/>
          </a:xfrm>
          <a:prstGeom prst="rect">
            <a:avLst/>
          </a:prstGeom>
          <a:solidFill>
            <a:srgbClr val="1E4E8C"/>
          </a:solidFill>
          <a:ln w="12700">
            <a:solidFill>
              <a:srgbClr val="1E4E8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94732" y="3611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10–11%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11480" y="3977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EIMI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133600" y="4023360"/>
            <a:ext cx="838200" cy="228600"/>
          </a:xfrm>
          <a:prstGeom prst="rect">
            <a:avLst/>
          </a:prstGeom>
          <a:solidFill>
            <a:srgbClr val="4F7BB8"/>
          </a:solidFill>
          <a:ln w="12700">
            <a:solidFill>
              <a:srgbClr val="4F7BB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99232" y="3977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4–6%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699766" y="3493008"/>
            <a:ext cx="0" cy="850392"/>
          </a:xfrm>
          <a:prstGeom prst="line">
            <a:avLst/>
          </a:prstGeom>
          <a:noFill/>
          <a:ln w="19050">
            <a:solidFill>
              <a:srgbClr val="C9A227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2425446" y="32461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5.46%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623560" y="3154680"/>
            <a:ext cx="31089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1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623560" y="3154680"/>
            <a:ext cx="3108960" cy="54864"/>
          </a:xfrm>
          <a:prstGeom prst="rect">
            <a:avLst/>
          </a:prstGeom>
          <a:solidFill>
            <a:srgbClr val="1E4E8C"/>
          </a:solidFill>
          <a:ln w="12700">
            <a:solidFill>
              <a:srgbClr val="1E4E8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15000" y="32186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32% IWDA / 8% EIMI?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715000" y="35204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markets carry the return. EM adds diversification into higher-growth economies but has weaker 10-yr history and higher volatility — so it stays a satellite at 8%.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11480" y="461772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iShares factsheets (IWDA IE00B4L5Y983, EIMI IE00BKM4GZ66) · data as of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ASSET ANALYSIS — FIXED INCOME &amp; DEPOSITS (43%)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Bonds &amp; Cash: AGGU + KFMTFI + Krungsri Kept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96643026 Investment Planning · Group Workshop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0" y="482803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26517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1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43000"/>
            <a:ext cx="2651760" cy="548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344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AGGU · Global Agg Bond · 28%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5270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USD-hedged · IG-only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21208" y="1847088"/>
            <a:ext cx="91440" cy="914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18013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YTM ~4.2–4.5%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21208" y="2093976"/>
            <a:ext cx="91440" cy="914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204825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~7 years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1208" y="2340864"/>
            <a:ext cx="91440" cy="914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22951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Investment-grade globally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1208" y="2587752"/>
            <a:ext cx="91440" cy="914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25420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currency-hedged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2852928"/>
            <a:ext cx="2468880" cy="0"/>
          </a:xfrm>
          <a:prstGeom prst="line">
            <a:avLst/>
          </a:prstGeom>
          <a:noFill/>
          <a:ln w="6350">
            <a:solidFill>
              <a:srgbClr val="E5E1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8986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ballast — dampens equity drawdowns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91840" y="1143000"/>
            <a:ext cx="26517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1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1143000"/>
            <a:ext cx="2651760" cy="54864"/>
          </a:xfrm>
          <a:prstGeom prst="rect">
            <a:avLst/>
          </a:prstGeom>
          <a:solidFill>
            <a:srgbClr val="6CC3B8"/>
          </a:solidFill>
          <a:ln w="12700">
            <a:solidFill>
              <a:srgbClr val="6CC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12344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KFMTFI · Krungsri Thai Bond · 10%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83280" y="15270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 short-term bonds · THB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01568" y="1847088"/>
            <a:ext cx="91440" cy="91440"/>
          </a:xfrm>
          <a:prstGeom prst="ellipse">
            <a:avLst/>
          </a:prstGeom>
          <a:solidFill>
            <a:srgbClr val="6CC3B8"/>
          </a:solidFill>
          <a:ln w="12700">
            <a:solidFill>
              <a:srgbClr val="6CC3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47872" y="18013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~2.5–3.0%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01568" y="2093976"/>
            <a:ext cx="91440" cy="91440"/>
          </a:xfrm>
          <a:prstGeom prst="ellipse">
            <a:avLst/>
          </a:prstGeom>
          <a:solidFill>
            <a:srgbClr val="6CC3B8"/>
          </a:solidFill>
          <a:ln w="12700">
            <a:solidFill>
              <a:srgbClr val="6CC3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47872" y="204825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duration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01568" y="2340864"/>
            <a:ext cx="91440" cy="91440"/>
          </a:xfrm>
          <a:prstGeom prst="ellipse">
            <a:avLst/>
          </a:prstGeom>
          <a:solidFill>
            <a:srgbClr val="6CC3B8"/>
          </a:solidFill>
          <a:ln w="12700">
            <a:solidFill>
              <a:srgbClr val="6CC3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47872" y="22951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Thai gov't paper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01568" y="2587752"/>
            <a:ext cx="91440" cy="91440"/>
          </a:xfrm>
          <a:prstGeom prst="ellipse">
            <a:avLst/>
          </a:prstGeom>
          <a:solidFill>
            <a:srgbClr val="6CC3B8"/>
          </a:solidFill>
          <a:ln w="12700">
            <a:solidFill>
              <a:srgbClr val="6CC3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47872" y="25420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via KAsset app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83280" y="2852928"/>
            <a:ext cx="2468880" cy="0"/>
          </a:xfrm>
          <a:prstGeom prst="line">
            <a:avLst/>
          </a:prstGeom>
          <a:noFill/>
          <a:ln w="6350">
            <a:solidFill>
              <a:srgbClr val="E5E1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83280" y="28986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CC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THB anchor — matches Tom's baht spending at retirement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72200" y="1143000"/>
            <a:ext cx="26517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1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72200" y="1143000"/>
            <a:ext cx="265176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63640" y="12344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Krungsri Kept · 5%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63640" y="15270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savings · instant access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281928" y="1847088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28232" y="18013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~1.5% p.a.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81928" y="2093976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28232" y="204825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liquidity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81928" y="2340864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28232" y="22951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Deposit-protected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81928" y="2587752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28232" y="25420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volatility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263640" y="2852928"/>
            <a:ext cx="2468880" cy="0"/>
          </a:xfrm>
          <a:prstGeom prst="line">
            <a:avLst/>
          </a:prstGeom>
          <a:noFill/>
          <a:ln w="6350">
            <a:solidFill>
              <a:srgbClr val="E5E1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63640" y="28986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Rebalancing cash &amp; emergency buffer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11480" y="3639312"/>
            <a:ext cx="8321040" cy="1005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4360" y="3675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rates rise +1%…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94360" y="3995928"/>
            <a:ext cx="2240280" cy="256032"/>
          </a:xfrm>
          <a:prstGeom prst="rect">
            <a:avLst/>
          </a:prstGeom>
          <a:solidFill>
            <a:srgbClr val="B4443A"/>
          </a:solidFill>
          <a:ln w="12700">
            <a:solidFill>
              <a:srgbClr val="B4443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4360" y="3995928"/>
            <a:ext cx="41148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AGGU ≈ −7% price drop (duration risk)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94360" y="4297680"/>
            <a:ext cx="480060" cy="201168"/>
          </a:xfrm>
          <a:prstGeom prst="rect">
            <a:avLst/>
          </a:prstGeom>
          <a:solidFill>
            <a:srgbClr val="6CC3B8"/>
          </a:solidFill>
          <a:ln w="12700">
            <a:solidFill>
              <a:srgbClr val="6CC3B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4360" y="4297680"/>
            <a:ext cx="411480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KFMTFI — short duration, minimal impact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572000" y="3703320"/>
            <a:ext cx="39319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rates also raise future reinvestment income — drawdown is temporary for a buy-and-hold strategy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ALTERNATIVES &amp; RISK MATRIX (17%)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Inflation Hedge + Risk Mitigation Framework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96643026 Investment Planning · Group Workshop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0" y="482803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27432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1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43000"/>
            <a:ext cx="2743200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070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REET — iShares Global REITs  ·  10%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4630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NYSE-listed  ·  US, Europe, Asia-Pacific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66420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 3.5–4.5%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10-yr total return ~5–7%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rent increases through to investors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hedge for 30-yr payout phase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2788920"/>
            <a:ext cx="27432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1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2788920"/>
            <a:ext cx="2743200" cy="54864"/>
          </a:xfrm>
          <a:prstGeom prst="rect">
            <a:avLst/>
          </a:prstGeom>
          <a:solidFill>
            <a:srgbClr val="E3C766"/>
          </a:solidFill>
          <a:ln w="12700">
            <a:solidFill>
              <a:srgbClr val="E3C7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8529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IGLN — iShares Physical Gold ETC  ·  7%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10896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LSE-listed  ·  Physical gold in London vault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310128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10-yr return ~8–9% (volatile)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to equities: 0.1–0.2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Tends to rise when equities fall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of real value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37560" y="1143000"/>
          <a:ext cx="5394960" cy="3474720"/>
        </p:xfrm>
        <a:graphic>
          <a:graphicData uri="http://schemas.openxmlformats.org/drawingml/2006/table">
            <a:tbl>
              <a:tblPr/>
              <a:tblGrid>
                <a:gridCol w="1051560"/>
                <a:gridCol w="1828800"/>
                <a:gridCol w="25146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Exposure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drawdown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44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30–40% crash on 40% equity sleeve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30-yr horizon; monthly DCA buys the dip; AGGU + IGLN buffer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Interest-rate rise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44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AGGU ≈ −7% per +1% rate increase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KFMTFI short duration offsets; hold to maturity recovers 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Currency (USD/THB)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44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~85% foreign-currency assets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 THB anchor (KFMTFI + Kept); long horizon averages FX cycles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44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Erodes ฿30k/month real value over 30yr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REET rent pass-through; IGLN preserves real 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44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 to sell in market stress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ETFs listed NYSE/LSE, high daily volume, no lock-up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Broker / custody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44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Broker insolvency risk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SIPC cover up to US$500k via IBKR; assets held separately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C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411480" y="461772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 Interactive Brokers or Saxo Bank Thailand (UCITS ETFs) · KFMTFI via KAsset app · SIPC coverage via US-regulated broker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CONCLUSION &amp; NEXT STEPS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 Verdict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2560320" cy="1005840"/>
          </a:xfrm>
          <a:prstGeom prst="rect">
            <a:avLst/>
          </a:prstGeom>
          <a:solidFill>
            <a:srgbClr val="1E3A5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234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6.06%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1783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return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27832" y="1188720"/>
            <a:ext cx="2560320" cy="1005840"/>
          </a:xfrm>
          <a:prstGeom prst="rect">
            <a:avLst/>
          </a:prstGeom>
          <a:solidFill>
            <a:srgbClr val="1E3A5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27832" y="1234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1D5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5.46%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227832" y="1783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return (i*)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044184" y="1188720"/>
            <a:ext cx="2560320" cy="1005840"/>
          </a:xfrm>
          <a:prstGeom prst="rect">
            <a:avLst/>
          </a:prstGeom>
          <a:solidFill>
            <a:srgbClr val="1E3A5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44184" y="1234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+0.60 pp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44184" y="1783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Safety buffer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228600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Level-4 growth portfolio meeting Tom's ฿30,000/month target from age 60 to 90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26974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291840"/>
            <a:ext cx="77724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182112"/>
            <a:ext cx="228600" cy="22860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18211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34564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373075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IBKR / Saxo + KAsset account. Invest ฿200k at target weights.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624328" y="3182112"/>
            <a:ext cx="228600" cy="22860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24328" y="318211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87168" y="34564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487168" y="373075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DCA ฿5,000 partitioned by target weights.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00016" y="3182112"/>
            <a:ext cx="228600" cy="22860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0016" y="318211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62856" y="34564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ANNUALLY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62856" y="373075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 when any class drifts &gt;±5 pp. Review risk profile.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775704" y="3182112"/>
            <a:ext cx="228600" cy="22860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75704" y="318211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638544" y="34564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45–55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638544" y="373075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Glide path: shift equities → fixed income before retirement.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11480" y="44805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BlackRock iShares factsheets (IWDA, EIMI, AGGU, REET, IGLN) · Krungsri Asset Management — KFMTFI fund fact sheet · SEC Thailand suitability risk framework 2025 · World Gold Council 2026 · Course materials 96643026 Investment Planning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· Q&amp;A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1148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96643026 Investment Planning · Group Workshop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772400" y="482803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Tom Retirement Portfolio</dc:title>
  <dc:subject>PptxGenJS Presentation</dc:subject>
  <dc:creator>Group Workshop — Investment Planning</dc:creator>
  <cp:lastModifiedBy>Group Workshop — Investment Planning</cp:lastModifiedBy>
  <cp:revision>1</cp:revision>
  <dcterms:created xsi:type="dcterms:W3CDTF">2026-09-29T15:22:13Z</dcterms:created>
  <dcterms:modified xsi:type="dcterms:W3CDTF">2026-09-29T15:22:13Z</dcterms:modified>
</cp:coreProperties>
</file>